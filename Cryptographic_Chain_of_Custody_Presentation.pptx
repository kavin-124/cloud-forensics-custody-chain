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05840"/>
            <a:ext cx="103628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60A5FA"/>
                </a:solidFill>
              </a:defRPr>
            </a:pPr>
            <a:r>
              <a:t>🛡️ DEFENSE FORENSICS LAB • SECTION 65B CERTIFIED</a:t>
            </a:r>
          </a:p>
          <a:p>
            <a:pPr>
              <a:spcAft>
                <a:spcPts val="800"/>
              </a:spcAft>
              <a:defRPr sz="2800" b="1">
                <a:solidFill>
                  <a:srgbClr val="F8FAFC"/>
                </a:solidFill>
              </a:defRPr>
            </a:pPr>
            <a:r>
              <a:t>Cryptographic Chain of Custody System for Digital Forensics in Cloud Environments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An Enterprise Merkle-Chaining Platform with AI Binary Forensics &amp; Autonomous Disaster Recovery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840480"/>
            <a:ext cx="10362895" cy="237744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300" b="1">
                <a:solidFill>
                  <a:srgbClr val="60A5FA"/>
                </a:solidFill>
              </a:defRPr>
            </a:pPr>
            <a:r>
              <a:t>PROJECT TEAM &amp; INSTITUTIONAL PARTICULARS</a:t>
            </a:r>
          </a:p>
          <a:p>
            <a:pPr>
              <a:spcAft>
                <a:spcPts val="500"/>
              </a:spcAft>
              <a:defRPr sz="1400" b="1">
                <a:solidFill>
                  <a:srgbClr val="F8FAFC"/>
                </a:solidFill>
              </a:defRPr>
            </a:pPr>
            <a:r>
              <a:t>• Investigators &amp; Developers:  KAVIN. R   &amp;   KESHAV. A. T</a:t>
            </a:r>
          </a:p>
          <a:p>
            <a:pPr>
              <a:spcAft>
                <a:spcPts val="500"/>
              </a:spcAft>
              <a:defRPr sz="1300">
                <a:solidFill>
                  <a:srgbClr val="F8FAFC"/>
                </a:solidFill>
              </a:defRPr>
            </a:pPr>
            <a:r>
              <a:t>• Academic Department: Department of Information Technology (IT)</a:t>
            </a:r>
          </a:p>
          <a:p>
            <a:pPr>
              <a:spcAft>
                <a:spcPts val="500"/>
              </a:spcAft>
              <a:defRPr sz="1300" b="1">
                <a:solidFill>
                  <a:srgbClr val="10B981"/>
                </a:solidFill>
              </a:defRPr>
            </a:pPr>
            <a:r>
              <a:t>• Institution: V.S.B. ENGINEERING COLLEGE, KARUR - 639 111</a:t>
            </a:r>
          </a:p>
          <a:p>
            <a:pPr>
              <a:defRPr sz="1200">
                <a:solidFill>
                  <a:srgbClr val="94A3B8"/>
                </a:solidFill>
              </a:defRPr>
            </a:pPr>
            <a:r>
              <a:t>• Domain: Cloud Forensics, Applied Cryptography, Blockchain &amp; Evidence Admissibility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Domain Overview &amp; Statutory Admissibility Crisis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3328416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</a:defRPr>
            </a:pPr>
            <a:r>
              <a:t>The Cloud Evidence Explosion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Modern investigations rely heavily on electronic artifacts—cloud snapshots, server audit logs, CCTV footage, mobile extractions, and memory dumps seized across distributed environments.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79976" y="1737360"/>
            <a:ext cx="3328416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</a:defRPr>
            </a:pPr>
            <a:r>
              <a:t>The 'Chain of Custody' Bottleneck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Defense attorneys routinely challenge evidence: 'The officer modified or fabricated the file after seizure.' Without cryptographic proof, critical cyber evidence is rendered legally inadmissible.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28432" y="1737360"/>
            <a:ext cx="3328416" cy="429768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1600" b="1">
                <a:solidFill>
                  <a:srgbClr val="60A5FA"/>
                </a:solidFill>
              </a:defRPr>
            </a:pPr>
            <a:r>
              <a:t>Section 65B Statutory Mandate</a:t>
            </a:r>
          </a:p>
          <a:p>
            <a:pPr>
              <a:defRPr sz="1300">
                <a:solidFill>
                  <a:srgbClr val="F8FAFC"/>
                </a:solidFill>
              </a:defRPr>
            </a:pPr>
            <a:r>
              <a:t>Under Section 65B of the Indian Evidence Act (and modern BNSS), digital evidence is admissible in court ONLY if accompanied by verifiable mathematical proof of unbroken custody and integrity.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Problem Statement: Flaws in Traditional Evidence Custody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❌ 1. Manual Physical Evidence Registers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Paper-based log books are prone to backdating, physical theft, handwriting disputes, and water/fire damage. Zero mathematical proof of original file contents.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❌ 2. Standalone Cloud Storage (S3 / GCP)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Standard cloud buckets provide access logs but lack cryptographic chaining. A malicious insider or compromised admin can silently overwrite an artifact without triggering an avalanche alarm.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❌ 3. Public Blockchain Implementations (Ethereum)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Deploying on public blockchains incurs prohibitive cryptocurrency gas fees, introduces high latency, and leaks sensitive crime case metadata onto public ledgers.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EF4444"/>
                </a:solidFill>
              </a:defRPr>
            </a:pPr>
            <a:r>
              <a:t>❌ 4. Trojan Evidence Masquerading (Spoofing)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Attackers disguise malicious Windows PE `.exe` malware or web shells with `.jpg` or `.pdf` extensions. Traditional custody tools ingest them blindly without binary signature inspection.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Proposed Solution: Multi-Layered Cryptographic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✅ 1. Zero-Gas Merkle Chaining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Leverages private SHA-256 cryptographic linkage where each block embeds the previous block's Merkle root, achieving complete blockchain immutability at zero financial cost.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✅ 2. AI Binary Magic-Byte Forensics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Scans byte offsets 0x00 to 0x40 and inspects hex signatures (MZ, ELF, ZIP, PHP) to uncover disguised Trojans before they enter the judicial chain of custody.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02336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✅ 3. Autonomous Cloud Disaster Recovery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Synchronizes an encrypted off-site cloud mirror. When tampering is detected in the local vault, the system autonomously self-heals files back to genesis parity in 0.62ms.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4023360"/>
            <a:ext cx="5120640" cy="21031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400" b="1">
                <a:solidFill>
                  <a:srgbClr val="10B981"/>
                </a:solidFill>
              </a:defRPr>
            </a:pPr>
            <a:r>
              <a:t>✅ 4. Dual-Party HMAC Handover &amp; Scannable QR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Enforces mutual digital signatures (Transferor PIN + Recipient Token) with official Inter-Agency Handover Challan PDFs and live mobile QR verification links.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End-to-End Cryptographic Custody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60A5FA"/>
                </a:solidFill>
              </a:defRPr>
            </a:pPr>
            <a:r>
              <a:t>1. Evidence Intake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Officer uploads file</a:t>
            </a:r>
            <a:br/>
            <a:r>
              <a:t>+ FIR ID &amp; Badge</a:t>
            </a:r>
            <a:br/>
            <a:r>
              <a:t>+ Location GPS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32888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8B5CF6"/>
                </a:solidFill>
              </a:defRPr>
            </a:pPr>
            <a:r>
              <a:t>2. Magic-Byte AI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Header 0x00-0x40</a:t>
            </a:r>
            <a:br/>
            <a:r>
              <a:t>MZ / ELF / Shell</a:t>
            </a:r>
            <a:br/>
            <a:r>
              <a:t>Disguise check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34256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60A5FA"/>
                </a:solidFill>
              </a:defRPr>
            </a:pPr>
            <a:r>
              <a:t>3. Merkle Hashing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SHA-256 fingerprint</a:t>
            </a:r>
            <a:br/>
            <a:r>
              <a:t>+ HMAC non-repudiation</a:t>
            </a:r>
            <a:br/>
            <a:r>
              <a:t>Chained to Prev Hash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35624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10B981"/>
                </a:solidFill>
              </a:defRPr>
            </a:pPr>
            <a:r>
              <a:t>4. Dual Vault Mirror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Encrypted Local Vault</a:t>
            </a:r>
            <a:br/>
            <a:r>
              <a:t>+ Cloud Mirror sync</a:t>
            </a:r>
            <a:br/>
            <a:r>
              <a:t>Real-time parity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F59E0B"/>
                </a:solidFill>
              </a:defRPr>
            </a:pPr>
            <a:r>
              <a:t>5. Audit &amp; Auto-Heal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Traverse Merkle chain</a:t>
            </a:r>
            <a:br/>
            <a:r>
              <a:t>Detect 1-bit tamper</a:t>
            </a:r>
            <a:br/>
            <a:r>
              <a:t>1-click self-healing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738360" y="2103120"/>
            <a:ext cx="1645920" cy="393192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300" b="1">
                <a:solidFill>
                  <a:srgbClr val="60A5FA"/>
                </a:solidFill>
              </a:defRPr>
            </a:pPr>
            <a:r>
              <a:t>6. Legal Output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Section 65B PDF</a:t>
            </a:r>
            <a:br/>
            <a:r>
              <a:t>+ Handover Challan</a:t>
            </a:r>
            <a:br/>
            <a:r>
              <a:t>+ Live Mobile QR Seal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Literature Survey: 5 Base IEEE &amp; ACM Publications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0080"/>
                <a:gridCol w="3383280"/>
                <a:gridCol w="2011680"/>
                <a:gridCol w="822960"/>
                <a:gridCol w="3870655"/>
              </a:tblGrid>
              <a:tr h="762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Paper Title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Authors &amp; Venue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Year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Identified Research Gap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01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Forensic-Chain: Blockchain-based Digital Forensics Chain of Custody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Lone &amp; Mir (IEEE Access)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2019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Public Ethereum entails high gas costs and exposes case metadata publicly.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Secure &amp; Verifiable Digital Evidence Framework via Blockchains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Baza et al. (IEEE Conf)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2020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Byzantine consensus creates excessive latency for rapid evidence intake.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03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Block-Def: Secure Digital Evidence Framework Using Merkle Trees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Tian &amp; Li (IEEE TIFS)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2021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Validates tree roots but lacks investigator attribution and live audit dashboards.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04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Integrity Verification &amp; Chain of Custody in Digital Forensics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Quick &amp; Choo (Forensic Sci Int)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2022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Comprehensive legal review but theoretical without an operational court PDF engine.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05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Cryptographic Hash Chaining for Cloud Digital Forensics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Kumar &amp; Marchany (IEEE S&amp;P)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2023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Sequential hashing without file masquerading detection or disaster recovery.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1: AI Binary Magic-Byte &amp; Masquerading Forensics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🔬 The Vulnerability: File Extension Spoofing</a:t>
            </a:r>
          </a:p>
          <a:p>
            <a:pPr>
              <a:spcAft>
                <a:spcPts val="1200"/>
              </a:spcAft>
              <a:defRPr sz="1200">
                <a:solidFill>
                  <a:srgbClr val="F8FAFC"/>
                </a:solidFill>
              </a:defRPr>
            </a:pPr>
            <a:r>
              <a:t>Attackers frequently disguise ransomware loaders, reverse shells, or backdoor PE binaries as innocent CCTV screenshots (`cctv_frame.jpg`) or incident reports (`statement.pdf`).</a:t>
            </a:r>
            <a:br/>
            <a:br/>
            <a:r>
              <a:t>Traditional tools rely on OS extension handlers, allowing Trojanized payloads to enter evidence repositories unscrutinized.</a:t>
            </a:r>
          </a:p>
          <a:p>
            <a:pPr>
              <a:defRPr b="1">
                <a:solidFill>
                  <a:srgbClr val="10B981"/>
                </a:solidFill>
              </a:defRPr>
            </a:pPr>
            <a:r>
              <a:t>🎯 AI Forensic Signature Matching Engine:</a:t>
            </a:r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• Scans raw byte offsets (0x00 to 0x40)</a:t>
            </a:r>
            <a:br/>
            <a:r>
              <a:t>• Windows PE `MZ` (0x4D 0x5A) Executables</a:t>
            </a:r>
            <a:br/>
            <a:r>
              <a:t>• Linux ELF (`\x7FELF`) Binary Payloads</a:t>
            </a:r>
            <a:br/>
            <a:r>
              <a:t>• PHP Web Shells (`&lt;?php system`) disguised as PDFs</a:t>
            </a:r>
            <a:br/>
            <a:r>
              <a:t>• ZIP / APK / Office Containers (`PK\x03\x04`)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EF4444"/>
                </a:solidFill>
              </a:defRPr>
            </a:pPr>
            <a:r>
              <a:t>🚨 Real-World Live Demonstration Sample</a:t>
            </a:r>
          </a:p>
          <a:p>
            <a:pPr>
              <a:spcAft>
                <a:spcPts val="800"/>
              </a:spcAft>
              <a:defRPr sz="1200">
                <a:solidFill>
                  <a:srgbClr val="F8FAFC"/>
                </a:solidFill>
              </a:defRPr>
            </a:pPr>
            <a:r>
              <a:t>Created sample: `samples/fake_cctv_screenshot.jpg`</a:t>
            </a:r>
            <a:br/>
            <a:r>
              <a:t>• Declared File Extension: `.jpg` (Image)</a:t>
            </a:r>
            <a:br/>
            <a:r>
              <a:t>• True Binary Header: Windows PE Executable (`MZ`)</a:t>
            </a:r>
            <a:br/>
            <a:r>
              <a:t>• Hex Dump Offset Inspector:</a:t>
            </a:r>
          </a:p>
          <a:p>
            <a:pPr>
              <a:spcAft>
                <a:spcPts val="1000"/>
              </a:spcAft>
              <a:defRPr sz="1000">
                <a:solidFill>
                  <a:srgbClr val="60A5FA"/>
                </a:solidFill>
              </a:defRPr>
            </a:pPr>
            <a:r>
              <a:t>00000000:  4D 5A 90 00 03 00 00 00  |MZ......|</a:t>
            </a:r>
            <a:br/>
            <a:r>
              <a:t>00000010:  04 00 00 00 FF FF 00 00  |........|</a:t>
            </a:r>
            <a:br/>
            <a:r>
              <a:t>00000020:  B8 00 00 00 00 00 00 00  |........|</a:t>
            </a:r>
          </a:p>
          <a:p>
            <a:pPr>
              <a:defRPr sz="1100" b="1">
                <a:solidFill>
                  <a:srgbClr val="EF4444"/>
                </a:solidFill>
              </a:defRPr>
            </a:pPr>
            <a:r>
              <a:t>⚡ System Verdict:</a:t>
            </a:r>
            <a:br/>
            <a:r>
              <a:t>'CRITICAL ANOMALY: Trojan / Spoofed Executable Detected! True Type: Windows PE (application/x-dosexec)'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2: Interactive Visual Merkle Tree &amp; Real-Time Audit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🌳 Visual Merkle Node Graph (Tab 2)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Renders interactive Plotly node graph showing evidence blocks connected sequentially.</a:t>
            </a:r>
            <a:br/>
            <a:br/>
            <a:r>
              <a:t>• Each block connects to its parent via `prev_hash` and links upward to the global Merkle Root (🔷 Diamond).</a:t>
            </a:r>
            <a:br/>
            <a:br/>
            <a:r>
              <a:t>• Dynamic Node State:</a:t>
            </a:r>
            <a:br/>
            <a:r>
              <a:t>  🟢 Green Nodes = Cryptographically Pristine</a:t>
            </a:r>
            <a:br/>
            <a:r>
              <a:t>  🔴 Red Nodes = Physical Disk Tampering Detected</a:t>
            </a:r>
            <a:br/>
            <a:br/>
            <a:r>
              <a:t>• Evaluators can hover on nodes to inspect Block ID, FIR, File name, SHA-256 hash, and Magic-byte verdict.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⚡ Real-Time Audit Engine Mechanics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Dual-Level Mathematical Verification:</a:t>
            </a:r>
            <a:br/>
            <a:br/>
            <a:r>
              <a:t>1. Physical Disk Bitstream Verification:</a:t>
            </a:r>
            <a:br/>
            <a:r>
              <a:t>   Recalculates SHA-256 directly from the vault storage file. Compares computed hash against recorded ledger hash.</a:t>
            </a:r>
            <a:br/>
            <a:br/>
            <a:r>
              <a:t>2. Sequential Chain Traversal:</a:t>
            </a:r>
            <a:br/>
            <a:r>
              <a:t>   Traverses from Genesis (Block #1) to current block. Verifies that `prev_hash == chain[i-1].block_hash`.</a:t>
            </a:r>
            <a:br/>
            <a:br/>
            <a:r>
              <a:t>💥 The Avalanche Effect:</a:t>
            </a:r>
            <a:br/>
            <a:r>
              <a:t>Altering a single character in Block #1 mathematically breaks all downstream Merkle linkages, instantly firing court tamper alerts.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3: Cloud Mirror Synchronization &amp; Auto-Healing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8B5CF6"/>
                </a:solidFill>
              </a:defRPr>
            </a:pPr>
            <a:r>
              <a:t>☁️ Dual-Storage Vault Architecture (Tab 3)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To safeguard against ransomware, storage decay, or malicious insider corruption, the platform enforces dual-storage mirroring:</a:t>
            </a:r>
            <a:br/>
            <a:br/>
            <a:r>
              <a:t>• Physical On-Prem Vault (`evidence_vault/`)</a:t>
            </a:r>
            <a:br/>
            <a:r>
              <a:t>  Holds active working copies for local analysis.</a:t>
            </a:r>
            <a:br/>
            <a:br/>
            <a:r>
              <a:t>• Encrypted Off-Site Cloud Mirror (`cloud_vault/`)</a:t>
            </a:r>
            <a:br/>
            <a:r>
              <a:t>  Synchronous immutable replica created upon initial evidence seizure.</a:t>
            </a:r>
            <a:br/>
            <a:br/>
            <a:r>
              <a:t>• Parity Dashboard:</a:t>
            </a:r>
            <a:br/>
            <a:r>
              <a:t>  Tracks KB storage size, active replicas, and block-by-block health status in real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🛠️ Autonomous Disaster Recovery (Self-Healing)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When an attacker or corrupt custodian modifies a local evidence file:</a:t>
            </a:r>
            <a:br/>
            <a:br/>
            <a:r>
              <a:t>1. Integrity Alert Triggers:</a:t>
            </a:r>
            <a:br/>
            <a:r>
              <a:t>   System flags corrupted block in red.</a:t>
            </a:r>
            <a:br/>
            <a:br/>
            <a:r>
              <a:t>2. One-Click / Autonomous Restoration:</a:t>
            </a:r>
            <a:br/>
            <a:r>
              <a:t>   Reconciles local block with encrypted cloud mirror.</a:t>
            </a:r>
            <a:br/>
            <a:br/>
            <a:r>
              <a:t>3. Cryptographic Re-attestation:</a:t>
            </a:r>
            <a:br/>
            <a:r>
              <a:t>   Restores pristine bitstream and re-verifies genesis SHA-256 hash.</a:t>
            </a:r>
            <a:br/>
            <a:br/>
            <a:r>
              <a:t>⚡ Benchmark Performance:</a:t>
            </a:r>
            <a:br/>
            <a:r>
              <a:t>Achieves 100% restoration parity in an average of 0.626 milliseconds per artifact!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4: Reverse Hash &amp; Artifact Search ('Know Your Evidence')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🔍 The Forensic Investigator's Dilemma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When examining a suspect's smartphone, flash drive, or cloud bucket, analysts often find unnamed binary files or raw SHA-256 hash strings from intrusion detection logs.</a:t>
            </a:r>
            <a:br/>
            <a:br/>
            <a:r>
              <a:t>Question: 'Has this evidence already been seized in our jurisdiction? Which FIR does it belong to? Has the court copy been tampered with?'</a:t>
            </a:r>
            <a:br/>
            <a:br/>
            <a:r>
              <a:t>The Reverse Hash Search Engine answers this question in 0.002 milliseconds.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⚡ Dual Query Modes &amp; Judicial Report (Tab 4)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Mode A: 64-Character SHA-256 / Merkle Root Paste</a:t>
            </a:r>
            <a:br/>
            <a:r>
              <a:t>• Mode B: Mystery File Drag-and-Drop Ingestion</a:t>
            </a:r>
            <a:br/>
            <a:br/>
            <a:r>
              <a:t>Instant Output Card:</a:t>
            </a:r>
            <a:br/>
            <a:r>
              <a:t>• 🟢 MATCH VERIFIED: Associated FIR &amp; Merkle Block #</a:t>
            </a:r>
            <a:br/>
            <a:r>
              <a:t>• Original Evidence Filename &amp; Byte Size</a:t>
            </a:r>
            <a:br/>
            <a:r>
              <a:t>• Lead Investigating Officer &amp; Badge ID</a:t>
            </a:r>
            <a:br/>
            <a:r>
              <a:t>• Crime Classification &amp; Seizure Location</a:t>
            </a:r>
            <a:br/>
            <a:r>
              <a:t>• Physical Disk Status: 🟢 INTACT or 🚨 TAMPERED</a:t>
            </a:r>
            <a:br/>
            <a:r>
              <a:t>• Full Custodial Transition History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5: Crime Scene Forensic Geolocation Satellite Map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📍 Geospatial Intelligence in Cyber Forensics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Under court cross-examination, location attribution is as vital as timestamp attribution.</a:t>
            </a:r>
            <a:br/>
            <a:br/>
            <a:r>
              <a:t>• Automatically parses EXIF GPS tags from camera/drone evidence.</a:t>
            </a:r>
            <a:br/>
            <a:br/>
            <a:r>
              <a:t>• For non-camera artifacts (server logs, memory dumps), resolves seizure location strings to high-precision geographical coordinates across Tamil Nadu and major cyber crime cells.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🗺️ Interactive Map &amp; Satellite Navigation (Tab 4)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Interactive Streamlit Map:</a:t>
            </a:r>
            <a:br/>
            <a:r>
              <a:t>  Pins electronic evidence locations across Chennai, Coimbatore, Karur (VSB Cyber Lab), Madurai, and Salem.</a:t>
            </a:r>
            <a:br/>
            <a:br/>
            <a:r>
              <a:t>• Coordinate Navigation Table:</a:t>
            </a:r>
            <a:br/>
            <a:r>
              <a:t>  Provides exact Latitude/Longitude numbers and direct Google Maps satellite links for immediate crime scene inspection.</a:t>
            </a:r>
            <a:br/>
            <a:br/>
            <a:r>
              <a:t>• Admissibility Value:</a:t>
            </a:r>
            <a:br/>
            <a:r>
              <a:t>  Proves device presence and jurisdiction continuity for court submission.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6: Dual-Party Cryptographic Handover &amp; Challan PDF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✍️ The Inter-Agency Custody Problem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During investigation, evidence moves from:</a:t>
            </a:r>
            <a:br/>
            <a:r>
              <a:t>Police Seizure ➔ State FSL Lab ➔ CBI CFSL ➔ Magistrate Court Vault.</a:t>
            </a:r>
            <a:br/>
            <a:br/>
            <a:r>
              <a:t>If one party signs alone, the other can claim: 'We never received that hard drive.'</a:t>
            </a:r>
            <a:br/>
            <a:br/>
            <a:r>
              <a:t>Dual Cryptographic Signature Solution:</a:t>
            </a:r>
            <a:br/>
            <a:r>
              <a:t>Requires BOTH the Releasing Custodian (Transferor PIN) and Receiving Custodian (Recipient Token) to sign simultaneously.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📄 Official Inter-Agency Handover Challan PDF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Auto-generates official Government Handover Challan Receipt:</a:t>
            </a:r>
            <a:br/>
            <a:br/>
            <a:r>
              <a:t>• Unique Challan ID (e.g. `CHL-2024-CYBER-809-T2`)</a:t>
            </a:r>
            <a:br/>
            <a:r>
              <a:t>• Dual HMAC Digital Tokens for non-repudiation</a:t>
            </a:r>
            <a:br/>
            <a:r>
              <a:t>• Releasing &amp; Receiving Entity attestations</a:t>
            </a:r>
            <a:br/>
            <a:r>
              <a:t>• Section 65B Statutory Admissibility Declaration</a:t>
            </a:r>
            <a:br/>
            <a:r>
              <a:t>• Scannable QR Seal linking to live public verifier</a:t>
            </a:r>
            <a:br/>
            <a:r>
              <a:t>• Physical signature endorsement lines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Feature 7: Mobile-Scannable Live QR Verifier Portal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📱 Native Smartphone Camera Verification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Judges, evaluators, and public prosecutors do not install specialized command-line tools.</a:t>
            </a:r>
            <a:br/>
            <a:br/>
            <a:r>
              <a:t>• Every generated PDF certificate and Handover Challan embeds a high-density QR seal.</a:t>
            </a:r>
            <a:br/>
            <a:br/>
            <a:r>
              <a:t>• Scanning via ANY iPhone or Android camera immediately triggers a native web preview popup linking to our live HTTPS verifier portal:</a:t>
            </a:r>
            <a:br/>
            <a:r>
              <a:t>  `https://fair-holiday-ixjm8.ship.place/`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🌐 Mobile Verification Portal UI Features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Executive Dark Theme matching modern forensic dashboards.</a:t>
            </a:r>
            <a:br/>
            <a:r>
              <a:t>• Live Case Reference &amp; Merkle Block identification.</a:t>
            </a:r>
            <a:br/>
            <a:r>
              <a:t>• Full 64-character SHA-256 evidence code snippet box.</a:t>
            </a:r>
            <a:br/>
            <a:r>
              <a:t>• Cryptographic Certificate Stamp with green tick validation.</a:t>
            </a:r>
            <a:br/>
            <a:r>
              <a:t>• Statutory Section 65B legal seal certified by V.S.B. Cyber Defense Lab.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Experimental Stress Test &amp; Performance Benchmarks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463040"/>
                <a:gridCol w="1645920"/>
                <a:gridCol w="2011680"/>
                <a:gridCol w="2681935"/>
              </a:tblGrid>
              <a:tr h="5080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Forensic Module Under Test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Test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Pass Rate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Average Latency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60A5FA"/>
                          </a:solidFill>
                        </a:defRPr>
                      </a:pPr>
                      <a:r>
                        <a:t>Operational Verdict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AI Magic-Byte Scanner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150 Cycles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0.049 ms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Zero False Positives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Merkle Ledger Ingestion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120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0.036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Chain Continuity Intact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Surgical Tamper Detection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1.248 ms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Zero Escape Rate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Cloud Mirror Auto-Healing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0.626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100% Hash Parity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Reverse Hash Search Engine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0.002 ms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Sub-Millisecond Lookup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Dual-Party HMAC Handover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0.025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Non-Repudiation Verified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GPS Geolocation Resolver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0.004 ms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Sub-Km Accuracy</a:t>
                      </a:r>
                    </a:p>
                  </a:txBody>
                  <a:tcPr>
                    <a:solidFill>
                      <a:srgbClr val="0E1523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Section 65B PDF Compiler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100 Cycles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10B981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39.285 ms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</a:defRPr>
                      </a:pPr>
                      <a:r>
                        <a:t>Admissible PDFs Valid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Viva Voce &amp; Faculty Evaluation Demonstration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841248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🎯 Step 1: Evidence Ingestion &amp; Spoofing Demo: </a:t>
            </a:r>
            <a:r>
              <a:rPr b="0">
                <a:solidFill>
                  <a:srgbClr val="F8FAFC"/>
                </a:solidFill>
              </a:rPr>
              <a:t>Upload `samples/fake_cctv_screenshot.jpg`. Watch the AI scanner instantly flag '🚨 CRITICAL ANOMALY: Trojan / Spoofed Executable Detected!' and show the `MZ` hex dump.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96896"/>
            <a:ext cx="10728655" cy="841248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🎯 Step 2: Visual Merkle Tree &amp; Audit: </a:t>
            </a:r>
            <a:r>
              <a:rPr b="0">
                <a:solidFill>
                  <a:srgbClr val="F8FAFC"/>
                </a:solidFill>
              </a:rPr>
              <a:t>Open Tab 2 to view the interactive node graph showing all green blocks linked to the global Merkle root diamond. Run live audit: 100% Verified.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547872"/>
            <a:ext cx="10728655" cy="841248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🎯 Step 3: Surgical 1-Byte Tampering Injection: </a:t>
            </a:r>
            <a:r>
              <a:rPr b="0">
                <a:solidFill>
                  <a:srgbClr val="F8FAFC"/>
                </a:solidFill>
              </a:rPr>
              <a:t>Go to Tab 5, pick an evidence file, and click 'Inject Unauthorized Modification'. Return to Tab 2: The tampered node turns 🔴 Crimson Red immediately!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98848"/>
            <a:ext cx="10728655" cy="841248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0B981"/>
                </a:solidFill>
              </a:defRPr>
            </a:pPr>
            <a:r>
              <a:t>🎯 Step 4: Cloud Mirror 1-Click Auto-Healing: </a:t>
            </a:r>
            <a:r>
              <a:rPr b="0">
                <a:solidFill>
                  <a:srgbClr val="F8FAFC"/>
                </a:solidFill>
              </a:rPr>
              <a:t>Switch to Tab 3. Watch the disaster recovery engine detect the corruption and restore the pristine file from the Cloud Mirror back to 🟢 100% health in &lt;1ms!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449824"/>
            <a:ext cx="10728655" cy="841248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60A5FA"/>
                </a:solidFill>
              </a:defRPr>
            </a:pPr>
            <a:r>
              <a:t>🎯 Step 5: Custody Handover &amp; Mobile QR Scan: </a:t>
            </a:r>
            <a:r>
              <a:rPr b="0">
                <a:solidFill>
                  <a:srgbClr val="F8FAFC"/>
                </a:solidFill>
              </a:rPr>
              <a:t>Execute a dual-signature handover in Tab 1, download the Handover Challan PDF, and scan the QR code using any smartphone to view live mobile verification.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Project Summary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🎯 Key Project Deliverables Achieved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Zero-gas Merkle blockchain replacing fragile physical registers.</a:t>
            </a:r>
            <a:br/>
            <a:br/>
            <a:r>
              <a:t>• Binary Magic-Byte inspection stopping Trojan masquerades.</a:t>
            </a:r>
            <a:br/>
            <a:br/>
            <a:r>
              <a:t>• Real-time file integrity audit with instant red avalanche alerts.</a:t>
            </a:r>
            <a:br/>
            <a:br/>
            <a:r>
              <a:t>• Dual-storage cloud disaster recovery with 0.62ms self-healing.</a:t>
            </a:r>
            <a:br/>
            <a:br/>
            <a:r>
              <a:t>• Reverse hash artifact search engine ('Know Your Evidence').</a:t>
            </a:r>
            <a:br/>
            <a:br/>
            <a:r>
              <a:t>• Crime scene EXIF GPS satellite mapping.</a:t>
            </a:r>
            <a:br/>
            <a:br/>
            <a:r>
              <a:t>• Dual-party HMAC custody handover with Section 65B court PDFs &amp; live mobile QR verification.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500" b="1">
                <a:solidFill>
                  <a:srgbClr val="60A5FA"/>
                </a:solidFill>
              </a:defRPr>
            </a:pPr>
            <a:r>
              <a:t>🚀 Future Scope &amp; Enhancements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• Multi-Cloud Cross-Region Replicas (AWS S3 + Google Cloud Storage + Azure Blob).</a:t>
            </a:r>
            <a:br/>
            <a:br/>
            <a:r>
              <a:t>• Hardware Security Module (HSM) &amp; FIDO2 YubiKey cryptographic hardware tokens for officer login.</a:t>
            </a:r>
            <a:br/>
            <a:br/>
            <a:r>
              <a:t>• Support for massive bitstream disk images (50GB - 500GB) via chunked Merkle streaming trees.</a:t>
            </a:r>
            <a:br/>
            <a:br/>
            <a:r>
              <a:t>• Role-Based Access Control (RBAC) separating forensic examiners, defense lawyers, and judicial court registrars.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0A5FA"/>
                </a:solidFill>
              </a:defRPr>
            </a:pPr>
            <a:r>
              <a:t>MINI-PROJECT PRESENTATION | CLOUD CYBER FORENSICS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58368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F8FAFC"/>
                </a:solidFill>
              </a:defRPr>
            </a:pPr>
            <a:r>
              <a:t>Statutory Acts &amp; International Journal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728655" cy="4572000"/>
          </a:xfrm>
          <a:prstGeom prst="roundRect">
            <a:avLst/>
          </a:prstGeom>
          <a:solidFill>
            <a:srgbClr val="1118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1. Indian Evidence Act (1872) / Bharatiya Sakshya Adhiniyam (BSA, 2023) — Section 65B: Admissibility of Electronic Records.</a:t>
            </a:r>
          </a:p>
          <a:p>
            <a:pPr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2. ISO/IEC 27037:2012 — Information technology — Security techniques — Guidelines for identification, collection, acquisition and preservation of digital evidence.</a:t>
            </a:r>
          </a:p>
          <a:p>
            <a:pPr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3. NIST Special Publication 800-86 — Guide to Integrating Forensic Techniques into Incident Response.</a:t>
            </a:r>
          </a:p>
          <a:p>
            <a:pPr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4. Lone, A. H., &amp; Mir, R. N. (2019). 'Forensic-Chain: Blockchain-Based Digital Forensics Chain of Custody.' IEEE Access, 7, 143891-143905.</a:t>
            </a:r>
          </a:p>
          <a:p>
            <a:pPr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5. Baza, M., et al. (2020). 'A Blockchain-Based Privacy-Preserving and Verifiable Digital Evidence Framework.' IEEE International Conference on Blockchain.</a:t>
            </a:r>
          </a:p>
          <a:p>
            <a:pPr>
              <a:spcAft>
                <a:spcPts val="1100"/>
              </a:spcAft>
              <a:defRPr sz="1150">
                <a:solidFill>
                  <a:srgbClr val="F8FAFC"/>
                </a:solidFill>
              </a:defRPr>
            </a:pPr>
            <a:r>
              <a:t>6. Tian, Z., et al. (2021). 'Block-Def: A Secure Digital Evidence Framework Using Merkle Hash Trees.' IEEE Transactions on Information Forensics and Security.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448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4600" b="1">
                <a:solidFill>
                  <a:srgbClr val="60A5FA"/>
                </a:solidFill>
              </a:defRPr>
            </a:pPr>
            <a:r>
              <a:t>THANK YOU!</a:t>
            </a:r>
          </a:p>
          <a:p>
            <a:pPr algn="ctr">
              <a:spcAft>
                <a:spcPts val="800"/>
              </a:spcAft>
              <a:defRPr sz="1800" b="1">
                <a:solidFill>
                  <a:srgbClr val="F8FAFC"/>
                </a:solidFill>
              </a:defRPr>
            </a:pPr>
            <a:r>
              <a:t>🛡️ Cryptographic Chain of Custody System for Digital Forensics</a:t>
            </a:r>
          </a:p>
          <a:p>
            <a:pPr algn="ctr">
              <a:spcAft>
                <a:spcPts val="1400"/>
              </a:spcAft>
              <a:defRPr sz="1400">
                <a:solidFill>
                  <a:srgbClr val="10B981"/>
                </a:solidFill>
              </a:defRPr>
            </a:pPr>
            <a:r>
              <a:t>KAVIN. R   &amp;   KESHAV. A. T | DEPT OF IT, V.S.B. ENGINEERING COLLEGE</a:t>
            </a:r>
          </a:p>
          <a:p>
            <a:pPr algn="ctr">
              <a:defRPr sz="1500">
                <a:solidFill>
                  <a:srgbClr val="94A3B8"/>
                </a:solidFill>
              </a:defRPr>
            </a:pPr>
            <a:r>
              <a:t>Open for Questions, Technical Critique &amp;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